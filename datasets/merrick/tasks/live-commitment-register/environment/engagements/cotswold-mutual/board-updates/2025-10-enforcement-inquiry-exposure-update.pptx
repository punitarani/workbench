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framing this as a cross-check, not a new development. See record on both matters before taking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the reassessment predates and is independent of the second request. Do not invite a merged discussion of the two matters' substance.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speculate on the covenant question here. It is being tracked as a discrete workstream with its own deadline.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substantive addition responding to the request for explanatory context — the prior update was flagged as lacking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reiterating no board action is being asked for. Hold the standing-order point for verbal Q&amp;A only if directly asked — not for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Enforcement Inquiry — Board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reconcile professional liability reserve/exposure figure with second-request enforcement scope and confirm status ahead of Thursday's meeting.</a:t>
            </a:r>
          </a:p>
          <a:p>
            <a:r>
              <a:t>Prepared by B. Ashworth, Commercial Litigation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Reserve and Exposure Figure — Finalized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Liability Claim – Reserve and Exposure Reassessment memo finalized and sent to Cotswold Mutual.</a:t>
            </a:r>
          </a:p>
          <a:p>
            <a:r>
              <a:t>Memo confirms: no change to liability, no change to damages, no change to discovery/motion posture, no change to coverage position.</a:t>
            </a:r>
          </a:p>
          <a:p>
            <a:r>
              <a:t>Reserve posting approved at the figure stated in the memo.</a:t>
            </a:r>
          </a:p>
          <a:p>
            <a:r>
              <a:t>This figure is the baseline against which the enforcement-inquiry budget will be measured; no restatement required as a result of the second request.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Request — Scope and Deadline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Second request expands scope beyond the first request; category-by-category comparison documented in the scope memo.</a:t>
            </a:r>
          </a:p>
          <a:p>
            <a:r>
              <a:t>Response deadline: October 24.</a:t>
            </a:r>
          </a:p>
          <a:p>
            <a:r>
              <a:t>Reliable initial-phase budget figure to follow by October 17, once collection is mapped.</a:t>
            </a:r>
          </a:p>
          <a:p>
            <a:r>
              <a:t>Standalone yes/no answer on credit agreement covenant amendment history overlap due October 15 — if yes, routed to the Board immediately and separately.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Cross-Check: Exposure Figure vs. Enforcement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overlap identified between the finalized reserve/exposure figure and the categories subject to the second request.</a:t>
            </a:r>
          </a:p>
          <a:p>
            <a:r>
              <a:t>Reserve figure reflects the professional liability claim only; enforcement inquiry costs are tracked separately as legal spend, not reserve exposure.</a:t>
            </a:r>
          </a:p>
          <a:p>
            <a:r>
              <a:t>Budget update due October 17 will address enforcement-related cost exposure; it will not alter the posted reserve figure.</a:t>
            </a:r>
          </a:p>
          <a:p>
            <a:r>
              <a:t>Any future overlap (e.g., if covenant history bears on both matters) will be flagged to the Board without delay.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Status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collection-related questions on the second request continue to route through B. Ashworth.</a:t>
            </a:r>
          </a:p>
          <a:p>
            <a:r>
              <a:t>Custodian interviews proceeding; privilege log has no blocking entries as of this update.</a:t>
            </a:r>
          </a:p>
          <a:p>
            <a:r>
              <a:t>Next Board touchpoints: October 15 (covenant overlap answer, if applicable), October 17 (budget figure), October 24 (response deadline).</a:t>
            </a:r>
          </a:p>
          <a:p>
            <a:r>
              <a:t>No action required from the Board at this time; informational update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