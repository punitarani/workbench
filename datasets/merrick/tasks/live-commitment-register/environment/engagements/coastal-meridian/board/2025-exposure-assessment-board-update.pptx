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framing this as a status update, not a final number — the Second Request is still outstanding.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same figures sent to Marguerite in the fee-budget-overage workbook — flagged there as not yet final for the same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being explicit that this is a status update. Do not let the board treat the estimate range as final — remind them it moves once the letter lands.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Coastal Meridian — Enforcement Exposure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Prepared for Thursday's board meeting</a:t>
            </a:r>
          </a:p>
          <a:p>
            <a:r>
              <a:t>Basis: Enforcement Exposure Summary and estimate prepared by the engagement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This Stands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Regulatory inquiry scope is Second Request-driven; formal letter not yet received</a:t>
            </a:r>
          </a:p>
          <a:p>
            <a:r>
              <a:t>Exposure figures below are scope-based estimates, not final numbers</a:t>
            </a:r>
          </a:p>
          <a:p>
            <a:r>
              <a:t>Three-week clock runs from receipt of the Second Request — deadline exposure flagged in WIP tracking</a:t>
            </a:r>
          </a:p>
          <a:p>
            <a:r>
              <a:t>No enforcement action has been filed; matter remains at the inquiry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Exposure Estimate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Figures reflect current scope assumptions; will be finalized on receipt of the Second Request letter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3657600"/>
          <a:ext cx="8229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65760">
                <a:tc>
                  <a:txBody>
                    <a:bodyPr/>
                    <a:lstStyle/>
                    <a:p>
                      <a:r>
                        <a:t>Exposure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Low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High Estimate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Basis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Civil penalty exposure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$1.2M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$3.5M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Comparable enforcement settlements, current inquiry scope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Remediation / compliance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$400K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$900K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Scope-driven estimate, pre-Second Request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Legal fees to resolution (est.)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$350K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$600K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Engagement team projection, current staffing plan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 Drivers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Scope of Second Request will set the final exposure range — could move either direction</a:t>
            </a:r>
          </a:p>
          <a:p>
            <a:r>
              <a:t>No indication of parallel criminal referral at this time</a:t>
            </a:r>
          </a:p>
          <a:p>
            <a:r>
              <a:t>Client's internal document collection is the critical-path dependency for our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Board Needs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action required at this meeting</a:t>
            </a:r>
          </a:p>
          <a:p>
            <a:r>
              <a:t>Firm will update exposure range within one week of receiving the Second Request</a:t>
            </a:r>
          </a:p>
          <a:p>
            <a:r>
              <a:t>Flag for board: three-week response clock creates a hard deadline once the letter arrives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