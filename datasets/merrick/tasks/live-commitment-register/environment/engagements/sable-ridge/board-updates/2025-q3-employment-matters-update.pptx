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slide. Frame this as a status update across three active matters: the staff complaint, the reduction in force, and the pending litigation moving toward mediation. Emphasize that none of these currently requires Board action, but the Board should be aware.</a:t>
            </a:r>
          </a:p>
          <a:p/>
          <a:p>
            <a:r>
              <a:t>[REVIEW — T. Mokoena, Docket]: No dated deadlines attach to this slide. Sign-off: OK as 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for the Board: without a written direction from counsel before fact-finding starts, the investigation record is discoverable. That direction is now in place, so we're on the right footing. This is a contemporaneous update, not a forward-looking plan — the call with Harriet has already happened and outcomes are settled. Reassure the Board that escalation triggers are being watched but none have been hit yet.</a:t>
            </a:r>
          </a:p>
          <a:p/>
          <a:p>
            <a:r>
              <a:t>[REVIEW — T. Mokoena, Docket]: 'Written direction of counsel is now in place' has no execution date logged against the matter calendar — flagging for confirmation of the date so it can be docketed. 'Conclusion: no deadline currently requires Board disclosure at this stage' is accurate as a docket-driven statement (no deadline compels disclosure); this is not a legal conclusion about whether disclosure is otherwise advisable, and should not be read as one. Sign-off pending date confirmation on written direction.</a:t>
            </a:r>
          </a:p>
          <a:p/>
          <a:p>
            <a:r>
              <a:t>[REVIEW — follow-up, T. Mokoena]: Per today's docket call, still no firm date on file for the written direction of counsel. Evidence remains thin on timing — requesting the execution date be sent over so this can be closed out. Holding sign-off on this bullet only; remainder of slide's factual narrative is not in dispute.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should reassure the committee that the RIF selection methodology has been legally reviewed for defensibility and that we've built in the same privilege safeguard used on the staff complaint matter — if a complaint arises out of the RIF, we won't let fact-finding get ahead of counsel's written direction.</a:t>
            </a:r>
          </a:p>
          <a:p/>
          <a:p>
            <a:r>
              <a:t>[REVIEW — T. Mokoena, Docket]: 'Under review' has no target completion date on the docket. Flagging — please confirm a review-completion date so it can be calendared and tracked against any RIF notice deadline. 'No open issues currently require Board sign-off' is supported only insofar as no dated deadline currently triggers sign-off; tightened understanding accordingly. Sign-off pending review-completion date.</a:t>
            </a:r>
          </a:p>
          <a:p/>
          <a:p>
            <a:r>
              <a:t>[REVIEW — follow-up, T. Mokoena]: Chat confirmation received from R. Duchamp on Sable Ridge coordination, but that confirms staffing/coordination only — it is not a review-completion date and does not resolve the open flag above. Still awaiting a firm date for the Position Statement review before this bullet can be signed off.</a:t>
            </a:r>
          </a:p>
          <a:p/>
          <a:p>
            <a:r>
              <a:t>[REVIEW — additional, T. Mokoena, Docket]: Separately, per chat exchange with R. Duchamp, the choice-of-law enforceability question flagged by H. Bae has been closed out on her end and confirmed clear to close by me — that item does not carry an open deadline and requires no calendaring. Noting this resolves the item raised in my prior cross-slide query below; it is unrelated to the Position Statement review-completion date, which remains open.</a:t>
            </a:r>
          </a:p>
          <a:p/>
          <a:p>
            <a:r>
              <a:t>[REVIEW — additional, T. Mokoena, Docket]: Per chat with L. Abara, Sable Ridge is no longer unresourced/unowned on the docket side — noting this as a staffing/ownership update only, distinct from the Position Statement review-completion date, which remains the sole outstanding item for sign-off on this slide. A separate calendar entry has also been opened at L. Abara's request regarding a duplicate docket call on this matter; that entry is administrative (deduplication of calendar invites) and does not itself carry a deadline requiring Board notice.</a:t>
            </a:r>
          </a:p>
          <a:p/>
          <a:p>
            <a:r>
              <a:t>[REVIEW — additional, T. Mokoena, Docket]: Per today's docket-call planning, the rotating note-taker fix is confirmed in effect, and the duplicate-call deduplication process flagged by L. Abara is holding as intended. Both are process/administrative confirmations only, carry no deadline, and do not touch the Position Statement review-completion date, which remains the sole outstanding item for sign-off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discuss specific settlement range in this deck — that's reserved for the live call with Roland and the team. The Board update should convey that a process is underway and disciplined, not the numbers themselves.</a:t>
            </a:r>
          </a:p>
          <a:p/>
          <a:p>
            <a:r>
              <a:t>[REVIEW — T. Mokoena, Docket]: Internal call window (tomorrow after 2:00 PM or Thursday before 11:00 AM) is not yet fixed to a single date/time on the docket — flagging until confirmed, since mediation-date proposals and any related deadlines cascade from it. Roland's confirmation of attendee availability is also outstanding. 'Mediation dates will be proposed... following that call' is a planned next step, not yet a docketed deadline — noting the distinction. Sign-off pending firm date.</a:t>
            </a:r>
          </a:p>
          <a:p/>
          <a:p>
            <a:r>
              <a:t>[REVIEW — follow-up, T. Mokoena]: As of today's docket call, the call window remains a two-option window rather than a confirmed single date/time, and Roland's availability confirmation is still outstanding. Evidence is too thin to calendar a days-remaining count against 'mediation dates will be proposed.' Requesting the firm date be locked and circulated so this cascades properly onto the docket. Sign-off withheld pending firm date.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because people often don't realize this is the baseline practice, not an exception. Worth stating plainly to the Board so they understand why timing on fact-finding sometimes appears to pause before it starts.</a:t>
            </a:r>
          </a:p>
          <a:p/>
          <a:p>
            <a:r>
              <a:t>[REVIEW — T. Mokoena, Docket]: Policy statement, no deadline attached. Sign-off: OK as 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reinforcing that nothing here currently requires a Board vote or formal action — this is a status and awareness update. Invite questions. Call me if easier.</a:t>
            </a:r>
          </a:p>
          <a:p/>
          <a:p>
            <a:r>
              <a:t>[REVIEW — T. Mokoena, Docket]: 'Finalize Position Statement review' and 'hold internal call this week' both lack calendared target dates. Requesting firm dates for each so they can be docketed with days-remaining tracking. 'Staff complaint: no further Board input needed at this time' is consistent with the docket record showing no pending deadline; flagging only that this should be revisited once the written-direction date above is confirmed. Sign-off pending those dates.</a:t>
            </a:r>
          </a:p>
          <a:p/>
          <a:p>
            <a:r>
              <a:t>[REVIEW — follow-up, T. Mokoena]: Same three open items discussed on today's docket call remain unresolved — written direction date (Matter 1), Position Statement review-completion date (Matter 2), and internal call date/time plus Roland's availability (Matter 3). None have a firm date yet, so none of these Next Steps items can be calendared with a days-remaining figure. Sign-off withheld on the RIF and litigation bullets pending dates; staff-complaint bullet sign-off pending written-direction date per Matter 1 note; closing bullet is fine as a general commitment and does not require a date.</a:t>
            </a:r>
          </a:p>
          <a:p/>
          <a:p>
            <a:r>
              <a:t>[REVIEW — additional, T. Mokoena, Docket]: Update to prior note — the choice-of-law enforceability question flagged by H. Bae has now been confirmed closed via chat with R. Duchamp; it does not belong on this matter list and no date is required. The three open items above (written-direction date, review-completion date, internal call date/Roland's availability) remain the only outstanding calendar items on this deck. Also noting per L. Abara: Sable Ridge staffing/ownership is resolved (no longer unresourced), and a separate calendar entry has been created to track the duplicate docket call issue he flagged — neither of these adds a new deadline to this list.</a:t>
            </a:r>
          </a:p>
          <a:p/>
          <a:p>
            <a:r>
              <a:t>[REVIEW — additional, T. Mokoena, Docket]: Per today's docket-call planning, confirming the rotating note-taker fix is in effect and the duplicate-call deduplication process is holding as intended — both administrative confirmations only, no deadline attached, no change to the three open items still requiring firm dates before sign-off.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Employment Matters — Board Update</a:t>
            </a:r>
          </a:p>
        </p:txBody>
      </p:sp>
      <p:sp>
        <p:nvSpPr>
          <p:cNvPr id="3" name="Content Placeholder 2"/>
          <p:cNvSpPr>
            <a:spLocks noGrp="1"/>
          </p:cNvSpPr>
          <p:nvPr>
            <p:ph idx="1"/>
          </p:nvPr>
        </p:nvSpPr>
        <p:spPr/>
        <p:txBody>
          <a:bodyPr/>
          <a:lstStyle/>
          <a:p>
            <a:r>
              <a:t>Prepared for the Board / Compensation &amp; Personnel Committee</a:t>
            </a:r>
          </a:p>
          <a:p>
            <a:r>
              <a:t>Presented by Fionnuala Doherty, Partner, Employment</a:t>
            </a:r>
          </a:p>
          <a:p>
            <a:r>
              <a:t>Status as of today — draft for discussion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Matter 1: Staff Complaint — Status</a:t>
            </a:r>
          </a:p>
        </p:txBody>
      </p:sp>
      <p:sp>
        <p:nvSpPr>
          <p:cNvPr id="3" name="Content Placeholder 2"/>
          <p:cNvSpPr>
            <a:spLocks noGrp="1"/>
          </p:cNvSpPr>
          <p:nvPr>
            <p:ph idx="1"/>
          </p:nvPr>
        </p:nvSpPr>
        <p:spPr/>
        <p:txBody>
          <a:bodyPr/>
          <a:lstStyle/>
          <a:p>
            <a:r>
              <a:t>Complaint raised by a staff member; Harriet Lindqvist is the client contact managing day-to-day handling</a:t>
            </a:r>
          </a:p>
          <a:p>
            <a:r>
              <a:t>Fact-finding was paused on receipt to allow written direction of counsel to issue before any investigative steps were taken</a:t>
            </a:r>
          </a:p>
          <a:p>
            <a:r>
              <a:t>Written direction of counsel is now in place — this preserves privilege over the investigation and any resulting report</a:t>
            </a:r>
          </a:p>
          <a:p>
            <a:r>
              <a:t>Fairness commitments have been set for both the complainant and the subject of the complaint</a:t>
            </a:r>
          </a:p>
          <a:p>
            <a:r>
              <a:t>Guidance given on how to respond to the complainant's confidentiality question</a:t>
            </a:r>
          </a:p>
          <a:p>
            <a:r>
              <a:t>Conclusion: no deadline currently requires Board disclosure at this stage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Matter 2: Sable Ridge Reduction in Force</a:t>
            </a:r>
          </a:p>
        </p:txBody>
      </p:sp>
      <p:sp>
        <p:nvSpPr>
          <p:cNvPr id="3" name="Content Placeholder 2"/>
          <p:cNvSpPr>
            <a:spLocks noGrp="1"/>
          </p:cNvSpPr>
          <p:nvPr>
            <p:ph idx="1"/>
          </p:nvPr>
        </p:nvSpPr>
        <p:spPr/>
        <p:txBody>
          <a:bodyPr/>
          <a:lstStyle/>
          <a:p>
            <a:r>
              <a:t>Position Statement on proposed RIF approach has been prepared and is under review</a:t>
            </a:r>
          </a:p>
          <a:p>
            <a:r>
              <a:t>Selection criteria have been sharpened to address adverse impact analysis and cross-check requirements</a:t>
            </a:r>
          </a:p>
          <a:p>
            <a:r>
              <a:t>Risk mitigation steps now expressly tie into investigation privilege posture</a:t>
            </a:r>
          </a:p>
          <a:p>
            <a:r>
              <a:t>Any RIF-adjacent complaint requiring fact-finding will be opened under written direction of counsel, consistent with firm standard practice</a:t>
            </a:r>
          </a:p>
          <a:p>
            <a:r>
              <a:t>No open issues currently require Board sign-off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Matter 3: Pending Litigation — Path to Mediation</a:t>
            </a:r>
          </a:p>
        </p:txBody>
      </p:sp>
      <p:sp>
        <p:nvSpPr>
          <p:cNvPr id="3" name="Content Placeholder 2"/>
          <p:cNvSpPr>
            <a:spLocks noGrp="1"/>
          </p:cNvSpPr>
          <p:nvPr>
            <p:ph idx="1"/>
          </p:nvPr>
        </p:nvSpPr>
        <p:spPr/>
        <p:txBody>
          <a:bodyPr/>
          <a:lstStyle/>
          <a:p>
            <a:r>
              <a:t>Plaintiff's counsel has been engaged regarding mediation scheduling</a:t>
            </a:r>
          </a:p>
          <a:p>
            <a:r>
              <a:t>Internal call scheduled (tomorrow after 2:00 PM or Thursday before 11:00 AM) to cover:</a:t>
            </a:r>
          </a:p>
          <a:p>
            <a:r>
              <a:t>  – Exposure analysis</a:t>
            </a:r>
          </a:p>
          <a:p>
            <a:r>
              <a:t>  – Settlement authority</a:t>
            </a:r>
          </a:p>
          <a:p>
            <a:r>
              <a:t>  – A related personnel-side question</a:t>
            </a:r>
          </a:p>
          <a:p>
            <a:r>
              <a:t>Mediation dates will be proposed to plaintiff's counsel following that call</a:t>
            </a:r>
          </a:p>
          <a:p>
            <a:r>
              <a:t>Roland has been asked to confirm attendee availability and provide any case updates in advance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Cross-Matter Note: Privilege Discipline</a:t>
            </a:r>
          </a:p>
        </p:txBody>
      </p:sp>
      <p:sp>
        <p:nvSpPr>
          <p:cNvPr id="3" name="Content Placeholder 2"/>
          <p:cNvSpPr>
            <a:spLocks noGrp="1"/>
          </p:cNvSpPr>
          <p:nvPr>
            <p:ph idx="1"/>
          </p:nvPr>
        </p:nvSpPr>
        <p:spPr/>
        <p:txBody>
          <a:bodyPr/>
          <a:lstStyle/>
          <a:p>
            <a:r>
              <a:t>Firm standard practice: every internal investigation is opened under a written direction from counsel</a:t>
            </a:r>
          </a:p>
          <a:p>
            <a:r>
              <a:t>Without that direction, the investigation report is discoverable — this is being applied consistently across the staff complaint and any RIF-adjacent complaints</a:t>
            </a:r>
          </a:p>
          <a:p>
            <a:r>
              <a:t>This is a deliberate, firm-wide safeguard, not a one-off precaution for this matter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a:t>
            </a:r>
          </a:p>
        </p:txBody>
      </p:sp>
      <p:sp>
        <p:nvSpPr>
          <p:cNvPr id="3" name="Content Placeholder 2"/>
          <p:cNvSpPr>
            <a:spLocks noGrp="1"/>
          </p:cNvSpPr>
          <p:nvPr>
            <p:ph idx="1"/>
          </p:nvPr>
        </p:nvSpPr>
        <p:spPr/>
        <p:txBody>
          <a:bodyPr/>
          <a:lstStyle/>
          <a:p>
            <a:r>
              <a:t>Staff complaint: monitor investigation progress; no further Board input needed at this time</a:t>
            </a:r>
          </a:p>
          <a:p>
            <a:r>
              <a:t>RIF: finalize Position Statement review; confirm selection criteria sign-off</a:t>
            </a:r>
          </a:p>
          <a:p>
            <a:r>
              <a:t>Litigation: hold internal call this week; propose mediation dates to plaintiff's counsel thereafter</a:t>
            </a:r>
          </a:p>
          <a:p>
            <a:r>
              <a:t>Will circulate a further update once mediation dates are confirmed or if any matter requires Board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