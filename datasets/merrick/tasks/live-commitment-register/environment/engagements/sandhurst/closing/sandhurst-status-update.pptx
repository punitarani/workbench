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slide for Dov. Sets scope: good standing and estoppels only, reconciled numbers.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standing is now fully closed at 12 of 12, superseding the prior 11 of 12 status. The outstanding Whitfield jurisdiction certificate for Sandhurst Real Estate Holdco LLC has been received; entity chart, good standing checklist, and UCC/lien search log have all been updated to reflect closure. Separately, the Ardmore Elevator good standing request (Ingrid Solheim thread) has been confirmed correct on subject line and distribution, requires no further action before sending, and its certificate content has been reviewed and cleared for closing binder filing — this is a distinct workstream from the now-closed Whitfield chase.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Estoppel count remains 2 of 3 open, reconciled with Mira and Quentin. The workstream has been escalated: a deadline letter has been sent to Whitfield's counsel in place of the prior registered-agent follow-up, and the current next step is EOD monitoring for a response. Samir has confirmed he holds no holder ID for the estoppel/supplier file and defers ownership of estoppel and MIP matters to Quentin/Dov.</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Flagged to Quentin twice that checklist does not confirm Odell contact identity; Quentin's signer confirmation to Mira and closeout confirmation to Ingrid narrow the remaining gap. The split status remains unconfirmed ('still unconfirmed, same as before') — no ETA has been reconfirmed. Note that the Whitfield good standing certificate chase referenced in earlier updates is now fully closed (12 of 12) and is distinct from this still-open Odell/Whitfield split workstream. Samir has reiterated that the MIP thread and mechanics receipt confirmation belong to Quentin/Dov, not Samir, to avoid misattribution.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Single source of truth for the numbers, reconciled across chat, memo, and tracker. Good standing is now fully closed at 12 of 12, superseding prior 11 of 12 figures. Estoppels remain at 1 of 3 back / 2 of 3 open, with escalation via deadline letter to Whitfield's counsel now the active next step. Odell/Whitfield split remains unconfirmed with no new ETA.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QC step added per review note on doc-000027 recommending a fourth verification step before batch rows are marked closed. Good standing chase item removed from open items since it is now fully closed at 12 of 12; Ardmore Elevator thread added as a closed-out, distinct item cleared for filing. Estoppel escalation (deadline letter to Whitfield's counsel) and EOD monitoring added as the current active next steps, replacing the prior registered-agent follow-up language. Odell/Whitfield split next-step language retained as still unconfirmed, with no new ETA given by Quentin. MIP and mechanics receipt ownership reaffirmed as Quentin/Dov's, not Samir's, per today's chat clarification.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Sandhurst Entities – Status Update</a:t>
            </a:r>
          </a:p>
        </p:txBody>
      </p:sp>
      <p:sp>
        <p:nvSpPr>
          <p:cNvPr id="3" name="Content Placeholder 2"/>
          <p:cNvSpPr>
            <a:spLocks noGrp="1"/>
          </p:cNvSpPr>
          <p:nvPr>
            <p:ph idx="1"/>
          </p:nvPr>
        </p:nvSpPr>
        <p:spPr/>
        <p:txBody>
          <a:bodyPr/>
          <a:lstStyle/>
          <a:p>
            <a:r>
              <a:t>Prepared by: Samir Bhatt, Paralegal, Corporate</a:t>
            </a:r>
          </a:p>
          <a:p>
            <a:r>
              <a:t>Purpose: Consolidated status on good standing and estoppel workstreams</a:t>
            </a:r>
          </a:p>
          <a:p>
            <a:r>
              <a:t>Status as of today, end of day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Good Standing – Status</a:t>
            </a:r>
          </a:p>
        </p:txBody>
      </p:sp>
      <p:sp>
        <p:nvSpPr>
          <p:cNvPr id="3" name="Content Placeholder 2"/>
          <p:cNvSpPr>
            <a:spLocks noGrp="1"/>
          </p:cNvSpPr>
          <p:nvPr>
            <p:ph idx="1"/>
          </p:nvPr>
        </p:nvSpPr>
        <p:spPr/>
        <p:txBody>
          <a:bodyPr/>
          <a:lstStyle/>
          <a:p>
            <a:r>
              <a:t>12 of 12 entities confirmed good standing — fully closed, no outstanding jurisdictions</a:t>
            </a:r>
          </a:p>
          <a:p>
            <a:r>
              <a:t>Whitfield jurisdiction (Sandhurst Real Estate Holdco LLC) certificate received; status updated to Good Standing</a:t>
            </a:r>
          </a:p>
          <a:p>
            <a:r>
              <a:t>Entity chart updated: 'Pending Confirmation' status removed for Sandhurst Real Estate Holdco LLC</a:t>
            </a:r>
          </a:p>
          <a:p>
            <a:r>
              <a:t>Good Standing Checklist row updated: certificate received (Y), note revised to '12 of 12 confirmed as of EOD'</a:t>
            </a:r>
          </a:p>
          <a:p>
            <a:r>
              <a:t>UCC and Lien Search Log note updated: 'awaiting good standing confirmation first' caveat removed, now closed</a:t>
            </a:r>
          </a:p>
          <a:p>
            <a:r>
              <a:t>Ardmore Elevator good standing request is a separate, distinct thread (Ingrid Solheim) — not part of the Whitfield chase; subject line corrected to 'Ardmore Elevator Good Standing Request,' distribution confirmed, no further action needed before sending</a:t>
            </a:r>
          </a:p>
          <a:p>
            <a:r>
              <a:t>Ardmore Elevator good standing certificate content reviewed and cleared for closing binder filing</a:t>
            </a:r>
          </a:p>
          <a:p>
            <a:r>
              <a:t>Updated entity chart and lien tracker attached/circulated to Dov</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Estoppels – Status</a:t>
            </a:r>
          </a:p>
        </p:txBody>
      </p:sp>
      <p:sp>
        <p:nvSpPr>
          <p:cNvPr id="3" name="Content Placeholder 2"/>
          <p:cNvSpPr>
            <a:spLocks noGrp="1"/>
          </p:cNvSpPr>
          <p:nvPr>
            <p:ph idx="1"/>
          </p:nvPr>
        </p:nvSpPr>
        <p:spPr/>
        <p:txBody>
          <a:bodyPr/>
          <a:lstStyle/>
          <a:p>
            <a:r>
              <a:t>1 of 3 estoppels received</a:t>
            </a:r>
          </a:p>
          <a:p>
            <a:r>
              <a:t>2 of 3 estoppels still open</a:t>
            </a:r>
          </a:p>
          <a:p>
            <a:r>
              <a:t>Escalation step taken: deadline letter drafted and sent to Whitfield's counsel (per Ingrid Solheim), replacing prior registered-agent follow-up as the current next action</a:t>
            </a:r>
          </a:p>
          <a:p>
            <a:r>
              <a:t>Next action: EOD monitoring for Whitfield's counsel response to the deadline letter</a:t>
            </a:r>
          </a:p>
          <a:p>
            <a:r>
              <a:t>Ingrid continuing Odell calls to move the remaining open estoppels forward</a:t>
            </a:r>
          </a:p>
          <a:p>
            <a:r>
              <a:t>Estoppel certificates and holder ID for the estoppel/supplier file remain Quentin/Dov's items — not Samir's to chase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Odell / Whitfield Split</a:t>
            </a:r>
          </a:p>
        </p:txBody>
      </p:sp>
      <p:sp>
        <p:nvSpPr>
          <p:cNvPr id="3" name="Content Placeholder 2"/>
          <p:cNvSpPr>
            <a:spLocks noGrp="1"/>
          </p:cNvSpPr>
          <p:nvPr>
            <p:ph idx="1"/>
          </p:nvPr>
        </p:nvSpPr>
        <p:spPr/>
        <p:txBody>
          <a:bodyPr/>
          <a:lstStyle/>
          <a:p>
            <a:r>
              <a:t>Quentin remains owner of the Odell/Whitfield split</a:t>
            </a:r>
          </a:p>
          <a:p>
            <a:r>
              <a:t>Split status confirmed by Quentin as still unconfirmed (N) — no change from prior status</a:t>
            </a:r>
          </a:p>
          <a:p>
            <a:r>
              <a:t>No new ETA confirmed by Quentin; prior ETA of tomorrow not reconfirmed</a:t>
            </a:r>
          </a:p>
          <a:p>
            <a:r>
              <a:t>Quentin confirmed to Mira the Secretary's Certificate signer question, clarifying part of the Odell contact gap</a:t>
            </a:r>
          </a:p>
          <a:p>
            <a:r>
              <a:t>Quentin confirmed to Ingrid that one related item is now closed out</a:t>
            </a:r>
          </a:p>
          <a:p>
            <a:r>
              <a:t>Whitfield good standing chase is now closed (12 of 12) — separate from the still-open Odell/Whitfield split</a:t>
            </a:r>
          </a:p>
          <a:p>
            <a:r>
              <a:t>Contact identity for Odell not confirmable from closing checklist; entity chart and Ingrid's notes are the referred sources</a:t>
            </a:r>
          </a:p>
          <a:p>
            <a:r>
              <a:t>MIP thread ownership: confirmed via chat that this sits with Quentin/Dov, not Samir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Consolidated Summary</a:t>
            </a:r>
          </a:p>
        </p:txBody>
      </p:sp>
      <p:graphicFrame>
        <p:nvGraphicFramePr>
          <p:cNvPr id="3" name="Table 2"/>
          <p:cNvGraphicFramePr>
            <a:graphicFrameLocks noGrp="1"/>
          </p:cNvGraphicFramePr>
          <p:nvPr/>
        </p:nvGraphicFramePr>
        <p:xfrm>
          <a:off x="457200" y="3657600"/>
          <a:ext cx="8229600" cy="1463040"/>
        </p:xfrm>
        <a:graphic>
          <a:graphicData uri="http://schemas.openxmlformats.org/drawingml/2006/table">
            <a:tbl>
              <a:tblPr firstRow="1" bandRow="1">
                <a:tableStyleId>{5C22544A-7EE6-4342-B048-85BDC9FD1C3A}</a:tableStyleId>
              </a:tblPr>
              <a:tblGrid>
                <a:gridCol w="2743200"/>
                <a:gridCol w="2743200"/>
                <a:gridCol w="2743200"/>
              </a:tblGrid>
              <a:tr h="365760">
                <a:tc>
                  <a:txBody>
                    <a:bodyPr/>
                    <a:lstStyle/>
                    <a:p>
                      <a:r>
                        <a:t>Workstream</a:t>
                      </a:r>
                    </a:p>
                  </a:txBody>
                  <a:tcPr/>
                </a:tc>
                <a:tc>
                  <a:txBody>
                    <a:bodyPr/>
                    <a:lstStyle/>
                    <a:p>
                      <a:r>
                        <a:t>Status</a:t>
                      </a:r>
                    </a:p>
                  </a:txBody>
                  <a:tcPr/>
                </a:tc>
                <a:tc>
                  <a:txBody>
                    <a:bodyPr/>
                    <a:lstStyle/>
                    <a:p>
                      <a:r>
                        <a:t>Notes</a:t>
                      </a:r>
                    </a:p>
                  </a:txBody>
                  <a:tcPr/>
                </a:tc>
              </a:tr>
              <a:tr h="365760">
                <a:tc>
                  <a:txBody>
                    <a:bodyPr/>
                    <a:lstStyle/>
                    <a:p>
                      <a:pPr>
                        <a:defRPr sz="1200"/>
                      </a:pPr>
                      <a:r>
                        <a:t>Good standing</a:t>
                      </a:r>
                    </a:p>
                  </a:txBody>
                  <a:tcPr/>
                </a:tc>
                <a:tc>
                  <a:txBody>
                    <a:bodyPr/>
                    <a:lstStyle/>
                    <a:p>
                      <a:pPr>
                        <a:defRPr sz="1200"/>
                      </a:pPr>
                      <a:r>
                        <a:t>12 of 12 — fully closed</a:t>
                      </a:r>
                    </a:p>
                  </a:txBody>
                  <a:tcPr/>
                </a:tc>
                <a:tc>
                  <a:txBody>
                    <a:bodyPr/>
                    <a:lstStyle/>
                    <a:p>
                      <a:pPr>
                        <a:defRPr sz="1200"/>
                      </a:pPr>
                      <a:r>
                        <a:t>Whitfield jurisdiction (Sandhurst Real Estate Holdco LLC) certificate received; entity chart, checklist, and UCC/lien log updated; Ardmore Elevator request is a separate thread, reviewed and cleared for closing binder filing</a:t>
                      </a:r>
                    </a:p>
                  </a:txBody>
                  <a:tcPr/>
                </a:tc>
              </a:tr>
              <a:tr h="365760">
                <a:tc>
                  <a:txBody>
                    <a:bodyPr/>
                    <a:lstStyle/>
                    <a:p>
                      <a:pPr>
                        <a:defRPr sz="1200"/>
                      </a:pPr>
                      <a:r>
                        <a:t>Estoppels</a:t>
                      </a:r>
                    </a:p>
                  </a:txBody>
                  <a:tcPr/>
                </a:tc>
                <a:tc>
                  <a:txBody>
                    <a:bodyPr/>
                    <a:lstStyle/>
                    <a:p>
                      <a:pPr>
                        <a:defRPr sz="1200"/>
                      </a:pPr>
                      <a:r>
                        <a:t>1 of 3 back / 2 of 3 open</a:t>
                      </a:r>
                    </a:p>
                  </a:txBody>
                  <a:tcPr/>
                </a:tc>
                <a:tc>
                  <a:txBody>
                    <a:bodyPr/>
                    <a:lstStyle/>
                    <a:p>
                      <a:pPr>
                        <a:defRPr sz="1200"/>
                      </a:pPr>
                      <a:r>
                        <a:t>Deadline letter sent to Whitfield's counsel; EOD monitoring for response; Ingrid working Odell calls; estoppel ownership remains with Quentin/Dov</a:t>
                      </a:r>
                    </a:p>
                  </a:txBody>
                  <a:tcPr/>
                </a:tc>
              </a:tr>
              <a:tr h="365760">
                <a:tc>
                  <a:txBody>
                    <a:bodyPr/>
                    <a:lstStyle/>
                    <a:p>
                      <a:pPr>
                        <a:defRPr sz="1200"/>
                      </a:pPr>
                      <a:r>
                        <a:t>Odell/Whitfield split</a:t>
                      </a:r>
                    </a:p>
                  </a:txBody>
                  <a:tcPr/>
                </a:tc>
                <a:tc>
                  <a:txBody>
                    <a:bodyPr/>
                    <a:lstStyle/>
                    <a:p>
                      <a:pPr>
                        <a:defRPr sz="1200"/>
                      </a:pPr>
                      <a:r>
                        <a:t>Pending (N) — still unconfirmed</a:t>
                      </a:r>
                    </a:p>
                  </a:txBody>
                  <a:tcPr/>
                </a:tc>
                <a:tc>
                  <a:txBody>
                    <a:bodyPr/>
                    <a:lstStyle/>
                    <a:p>
                      <a:pPr>
                        <a:defRPr sz="1200"/>
                      </a:pPr>
                      <a:r>
                        <a:t>Quentin owner; no new ETA confirmed; signer question resolved with Mira; one item closed with Ingrid; MIP thread confirmed as Quentin/Dov's, not Samir's</a:t>
                      </a:r>
                    </a:p>
                  </a:txBody>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Open Items / Next Steps</a:t>
            </a:r>
          </a:p>
        </p:txBody>
      </p:sp>
      <p:sp>
        <p:nvSpPr>
          <p:cNvPr id="3" name="Content Placeholder 2"/>
          <p:cNvSpPr>
            <a:spLocks noGrp="1"/>
          </p:cNvSpPr>
          <p:nvPr>
            <p:ph idx="1"/>
          </p:nvPr>
        </p:nvSpPr>
        <p:spPr/>
        <p:txBody>
          <a:bodyPr/>
          <a:lstStyle/>
          <a:p>
            <a:r>
              <a:t>Quentin to provide updated ETA on Odell/Whitfield split status, still unconfirmed as of today's chat</a:t>
            </a:r>
          </a:p>
          <a:p>
            <a:r>
              <a:t>Monitor for Whitfield's counsel response to the deadline letter by EOD</a:t>
            </a:r>
          </a:p>
          <a:p>
            <a:r>
              <a:t>Ingrid to continue Odell calls to move estoppels toward closure</a:t>
            </a:r>
          </a:p>
          <a:p>
            <a:r>
              <a:t>2 outstanding estoppels to be chased to closure (Quentin/Dov ownership)</a:t>
            </a:r>
          </a:p>
          <a:p>
            <a:r>
              <a:t>Good standing certificates: fully closed at 12 of 12 — no further chase needed</a:t>
            </a:r>
          </a:p>
          <a:p>
            <a:r>
              <a:t>Ardmore Elevator good standing request: no further action needed before sending; certificate content cleared for closing binder filing</a:t>
            </a:r>
          </a:p>
          <a:p>
            <a:r>
              <a:t>QC confirmation to be obtained for BATCH-007 and BATCH-010 before those tracker rows are closed</a:t>
            </a:r>
          </a:p>
          <a:p>
            <a:r>
              <a:t>MIP thread and mechanics receipt confirmation to be routed to Quentin/Dov, not Samir, per chat clarification</a:t>
            </a:r>
          </a:p>
          <a:p>
            <a:r>
              <a:t>Updated entity chart and lien tracker attached and circulated to Dov</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