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ask: this is the current, confirmed, locked number for the board call. Good standing is fully closed at 12 of 12, reconfirmed via correspondence with Lucien Abara. The sole open item is the Whitfield estoppel deadline letter, noted on the closing checklist slide — no other open questions on scope remain outstanding.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now the sole open item — flagged so the board isn't surprised by a later adjustment, though today's confirmed figures already reflect the locked, reconciled position. Good standing status reconfirmed in writing, removing prior ambiguity.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Ardmore Elevator Acquisition — Fee Estimate Update (Locked)</a:t>
            </a:r>
          </a:p>
        </p:txBody>
      </p:sp>
      <p:sp>
        <p:nvSpPr>
          <p:cNvPr id="3" name="Content Placeholder 2"/>
          <p:cNvSpPr>
            <a:spLocks noGrp="1"/>
          </p:cNvSpPr>
          <p:nvPr>
            <p:ph idx="1"/>
          </p:nvPr>
        </p:nvSpPr>
        <p:spPr/>
        <p:txBody>
          <a:bodyPr/>
          <a:lstStyle/>
          <a:p>
            <a:r>
              <a:t>Prepared for Imelda Frost's board call</a:t>
            </a:r>
          </a:p>
          <a:p>
            <a:r>
              <a:t>Reflects locked figures confirmed against the reconciled closing checklist (doc-000207), cross-checked against updated status notes (doc-000311)</a:t>
            </a:r>
          </a:p>
          <a:p>
            <a:r>
              <a:t>Source: Open Items Tracker (current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Fee Estimate — Summary</a:t>
            </a:r>
          </a:p>
        </p:txBody>
      </p:sp>
      <p:sp>
        <p:nvSpPr>
          <p:cNvPr id="3" name="Content Placeholder 2"/>
          <p:cNvSpPr>
            <a:spLocks noGrp="1"/>
          </p:cNvSpPr>
          <p:nvPr>
            <p:ph idx="1"/>
          </p:nvPr>
        </p:nvSpPr>
        <p:spPr/>
        <p:txBody>
          <a:bodyPr/>
          <a:lstStyle/>
          <a:p>
            <a:r>
              <a:t>Estimate reviewed and reconfirmed against the reconciled closing checklist (doc-000207) and updated status notes (doc-000311)</a:t>
            </a:r>
          </a:p>
          <a:p>
            <a:r>
              <a:t>No change in overall transaction scope since last board update</a:t>
            </a:r>
          </a:p>
          <a:p>
            <a:r>
              <a:t>Estimate excludes contingency for supplier dispute escalation costs, tracked separately</a:t>
            </a:r>
          </a:p>
        </p:txBody>
      </p:sp>
      <p:graphicFrame>
        <p:nvGraphicFramePr>
          <p:cNvPr id="4" name="Table 3"/>
          <p:cNvGraphicFramePr>
            <a:graphicFrameLocks noGrp="1"/>
          </p:cNvGraphicFramePr>
          <p:nvPr/>
        </p:nvGraphicFramePr>
        <p:xfrm>
          <a:off x="457200" y="365760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t>Category</a:t>
                      </a:r>
                    </a:p>
                  </a:txBody>
                  <a:tcPr/>
                </a:tc>
                <a:tc>
                  <a:txBody>
                    <a:bodyPr/>
                    <a:lstStyle/>
                    <a:p>
                      <a:r>
                        <a:t>Confirmed Estimate</a:t>
                      </a:r>
                    </a:p>
                  </a:txBody>
                  <a:tcPr/>
                </a:tc>
                <a:tc>
                  <a:txBody>
                    <a:bodyPr/>
                    <a:lstStyle/>
                    <a:p>
                      <a:r>
                        <a:t>Status</a:t>
                      </a:r>
                    </a:p>
                  </a:txBody>
                  <a:tcPr/>
                </a:tc>
              </a:tr>
              <a:tr h="365760">
                <a:tc>
                  <a:txBody>
                    <a:bodyPr/>
                    <a:lstStyle/>
                    <a:p>
                      <a:pPr>
                        <a:defRPr sz="1200"/>
                      </a:pPr>
                      <a:r>
                        <a:t>Corporate / Deal Team Fees</a:t>
                      </a:r>
                    </a:p>
                  </a:txBody>
                  <a:tcPr/>
                </a:tc>
                <a:tc>
                  <a:txBody>
                    <a:bodyPr/>
                    <a:lstStyle/>
                    <a:p>
                      <a:pPr>
                        <a:defRPr sz="1200"/>
                      </a:pPr>
                      <a:r>
                        <a:t>Confirmed</a:t>
                      </a:r>
                    </a:p>
                  </a:txBody>
                  <a:tcPr/>
                </a:tc>
                <a:tc>
                  <a:txBody>
                    <a:bodyPr/>
                    <a:lstStyle/>
                    <a:p>
                      <a:pPr>
                        <a:defRPr sz="1200"/>
                      </a:pPr>
                      <a:r>
                        <a:t>Locked — reconciled to doc-000207</a:t>
                      </a:r>
                    </a:p>
                  </a:txBody>
                  <a:tcPr/>
                </a:tc>
              </a:tr>
              <a:tr h="365760">
                <a:tc>
                  <a:txBody>
                    <a:bodyPr/>
                    <a:lstStyle/>
                    <a:p>
                      <a:pPr>
                        <a:defRPr sz="1200"/>
                      </a:pPr>
                      <a:r>
                        <a:t>Diligence &amp; Ancillary Work</a:t>
                      </a:r>
                    </a:p>
                  </a:txBody>
                  <a:tcPr/>
                </a:tc>
                <a:tc>
                  <a:txBody>
                    <a:bodyPr/>
                    <a:lstStyle/>
                    <a:p>
                      <a:pPr>
                        <a:defRPr sz="1200"/>
                      </a:pPr>
                      <a:r>
                        <a:t>Confirmed</a:t>
                      </a:r>
                    </a:p>
                  </a:txBody>
                  <a:tcPr/>
                </a:tc>
                <a:tc>
                  <a:txBody>
                    <a:bodyPr/>
                    <a:lstStyle/>
                    <a:p>
                      <a:pPr>
                        <a:defRPr sz="1200"/>
                      </a:pPr>
                      <a:r>
                        <a:t>Locked — reconciled to doc-000207</a:t>
                      </a:r>
                    </a:p>
                  </a:txBody>
                  <a:tcPr/>
                </a:tc>
              </a:tr>
              <a:tr h="365760">
                <a:tc>
                  <a:txBody>
                    <a:bodyPr/>
                    <a:lstStyle/>
                    <a:p>
                      <a:pPr>
                        <a:defRPr sz="1200"/>
                      </a:pPr>
                      <a:r>
                        <a:t>Closing &amp; Ancillary Documents</a:t>
                      </a:r>
                    </a:p>
                  </a:txBody>
                  <a:tcPr/>
                </a:tc>
                <a:tc>
                  <a:txBody>
                    <a:bodyPr/>
                    <a:lstStyle/>
                    <a:p>
                      <a:pPr>
                        <a:defRPr sz="1200"/>
                      </a:pPr>
                      <a:r>
                        <a:t>Confirmed</a:t>
                      </a:r>
                    </a:p>
                  </a:txBody>
                  <a:tcPr/>
                </a:tc>
                <a:tc>
                  <a:txBody>
                    <a:bodyPr/>
                    <a:lstStyle/>
                    <a:p>
                      <a:pPr>
                        <a:defRPr sz="1200"/>
                      </a:pPr>
                      <a:r>
                        <a:t>Locked — reconciled to doc-000207</a:t>
                      </a:r>
                    </a:p>
                  </a:txBody>
                  <a:tcPr/>
                </a:tc>
              </a:tr>
              <a:tr h="365760">
                <a:tc>
                  <a:txBody>
                    <a:bodyPr/>
                    <a:lstStyle/>
                    <a:p>
                      <a:pPr>
                        <a:defRPr sz="1200"/>
                      </a:pPr>
                      <a:r>
                        <a:t>Disbursements/Expenses</a:t>
                      </a:r>
                    </a:p>
                  </a:txBody>
                  <a:tcPr/>
                </a:tc>
                <a:tc>
                  <a:txBody>
                    <a:bodyPr/>
                    <a:lstStyle/>
                    <a:p>
                      <a:pPr>
                        <a:defRPr sz="1200"/>
                      </a:pPr>
                      <a:r>
                        <a:t>Confirmed</a:t>
                      </a:r>
                    </a:p>
                  </a:txBody>
                  <a:tcPr/>
                </a:tc>
                <a:tc>
                  <a:txBody>
                    <a:bodyPr/>
                    <a:lstStyle/>
                    <a:p>
                      <a:pPr>
                        <a:defRPr sz="1200"/>
                      </a:pPr>
                      <a:r>
                        <a:t>Locked — reconciled to doc-000207</a:t>
                      </a:r>
                    </a:p>
                  </a:txBody>
                  <a:tcPr/>
                </a:tc>
              </a:tr>
              <a:tr h="365760">
                <a:tc>
                  <a:txBody>
                    <a:bodyPr/>
                    <a:lstStyle/>
                    <a:p>
                      <a:pPr>
                        <a:defRPr sz="1200"/>
                      </a:pPr>
                      <a:r>
                        <a:t>Total Estimate</a:t>
                      </a:r>
                    </a:p>
                  </a:txBody>
                  <a:tcPr/>
                </a:tc>
                <a:tc>
                  <a:txBody>
                    <a:bodyPr/>
                    <a:lstStyle/>
                    <a:p>
                      <a:pPr>
                        <a:defRPr sz="1200"/>
                      </a:pPr>
                      <a:r>
                        <a:t>Confirmed — see Open Items Tracker</a:t>
                      </a:r>
                    </a:p>
                  </a:txBody>
                  <a:tcPr/>
                </a:tc>
                <a:tc>
                  <a:txBody>
                    <a:bodyPr/>
                    <a:lstStyle/>
                    <a:p>
                      <a:pPr>
                        <a:defRPr sz="1200"/>
                      </a:pPr>
                      <a:r>
                        <a:t>Final for board call</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 Items That May Affect Future Estimates</a:t>
            </a:r>
          </a:p>
        </p:txBody>
      </p:sp>
      <p:sp>
        <p:nvSpPr>
          <p:cNvPr id="3" name="Content Placeholder 2"/>
          <p:cNvSpPr>
            <a:spLocks noGrp="1"/>
          </p:cNvSpPr>
          <p:nvPr>
            <p:ph idx="1"/>
          </p:nvPr>
        </p:nvSpPr>
        <p:spPr/>
        <p:txBody>
          <a:bodyPr/>
          <a:lstStyle/>
          <a:p>
            <a:r>
              <a:t>Good standing fully closed at 12 of 12 — confirmed with Lucien Abara, no longer an open item</a:t>
            </a:r>
          </a:p>
          <a:p>
            <a:r>
              <a:t>Sole remaining open item: Whitfield estoppel deadline letter (2 of 3 estoppels received, third pending); counsel remains unresponsive</a:t>
            </a:r>
          </a:p>
          <a:p>
            <a:r>
              <a:t>Escalation ongoing with continued EOD monitoring; no response received to date — next step is escalation past Dov to supervisor/counsel</a:t>
            </a:r>
          </a:p>
          <a:p>
            <a:r>
              <a:t>Supplier counterclaim: holding position confirmed — no counterclaim to be filed; zero read-through to Ardmore/Verity closing</a:t>
            </a:r>
          </a:p>
          <a:p>
            <a:r>
              <a:t>Follow-up action item: reconfirm fee estimate figures once Whitfield's response is received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Continue chasing Whitfield's counsel for a response on the estoppel deadline letter</a:t>
            </a:r>
          </a:p>
          <a:p>
            <a:r>
              <a:t>Escalate past Dov to supervisor/counsel — no response received within EOD cadence</a:t>
            </a:r>
          </a:p>
          <a:p>
            <a:r>
              <a:t>Reconfirm fee estimate once Whitfield's response is received</a:t>
            </a:r>
          </a:p>
          <a:p>
            <a:r>
              <a:t>Underlying investigation memo and holding-position memo on supplier dispute available on request before Thursday's board briefing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